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117317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Stack de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</a:rPr>
              <a:t>Loki  |  Grafana  |  Prometheus  |  Alloy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Monitoramento unificado de logs e metricas
para ambientes corporativos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06240"/>
            <a:ext cx="201168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224527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Loki 3.6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206240"/>
            <a:ext cx="201168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4224527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Grafana 13.0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206240"/>
            <a:ext cx="20116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4224527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Prometheus 3.11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206240"/>
            <a:ext cx="201168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4224527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Alloy 1.9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94A3B8"/>
                </a:solidFill>
              </a:rPr>
              <a:t>Cloud Engineering Group | Gustavo </a:t>
            </a:r>
            <a:r>
              <a:rPr lang="en-US" sz="1200" b="0" i="1" dirty="0">
                <a:solidFill>
                  <a:srgbClr val="94A3B8"/>
                </a:solidFill>
              </a:rPr>
              <a:t>Casanova Kehr de Oliveira | </a:t>
            </a:r>
            <a:r>
              <a:rPr lang="en-US" sz="1200" b="0" i="1" dirty="0" err="1">
                <a:solidFill>
                  <a:srgbClr val="94A3B8"/>
                </a:solidFill>
              </a:rPr>
              <a:t>Analista</a:t>
            </a:r>
            <a:r>
              <a:rPr lang="en-US" sz="1200" b="0" i="1" dirty="0">
                <a:solidFill>
                  <a:srgbClr val="94A3B8"/>
                </a:solidFill>
              </a:rPr>
              <a:t> de </a:t>
            </a:r>
            <a:r>
              <a:rPr sz="1200" b="0" i="1" dirty="0" err="1">
                <a:solidFill>
                  <a:srgbClr val="94A3B8"/>
                </a:solidFill>
              </a:rPr>
              <a:t>Infraestrutura</a:t>
            </a:r>
            <a:r>
              <a:rPr sz="1200" b="0" i="1" dirty="0">
                <a:solidFill>
                  <a:srgbClr val="94A3B8"/>
                </a:solidFill>
              </a:rPr>
              <a:t>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Como esta hoje - sem observabilidade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743200" cy="3840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Logs espalhados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Cada servidor tem seus logs em /var/log.
Nao ha busca centralizada.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743200" cy="3840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Resposta lenta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Para </a:t>
            </a:r>
            <a:r>
              <a:rPr sz="1100" b="0" i="0" dirty="0" err="1">
                <a:solidFill>
                  <a:srgbClr val="94A3B8"/>
                </a:solidFill>
              </a:rPr>
              <a:t>investigar</a:t>
            </a:r>
            <a:r>
              <a:rPr sz="1100" b="0" i="0" dirty="0">
                <a:solidFill>
                  <a:srgbClr val="94A3B8"/>
                </a:solidFill>
              </a:rPr>
              <a:t> um </a:t>
            </a:r>
            <a:r>
              <a:rPr sz="1100" b="0" i="0" dirty="0" err="1">
                <a:solidFill>
                  <a:srgbClr val="94A3B8"/>
                </a:solidFill>
              </a:rPr>
              <a:t>erro</a:t>
            </a:r>
            <a:r>
              <a:rPr sz="1100" b="0" i="0" dirty="0">
                <a:solidFill>
                  <a:srgbClr val="94A3B8"/>
                </a:solidFill>
              </a:rPr>
              <a:t>, voce </a:t>
            </a:r>
            <a:r>
              <a:rPr sz="1100" b="0" i="0" dirty="0" err="1">
                <a:solidFill>
                  <a:srgbClr val="94A3B8"/>
                </a:solidFill>
              </a:rPr>
              <a:t>acessa</a:t>
            </a:r>
            <a:r>
              <a:rPr sz="1100" b="0" i="0" dirty="0">
                <a:solidFill>
                  <a:srgbClr val="94A3B8"/>
                </a:solidFill>
              </a:rPr>
              <a:t>
</a:t>
            </a:r>
            <a:r>
              <a:rPr sz="1100" b="0" i="0" dirty="0" err="1">
                <a:solidFill>
                  <a:srgbClr val="94A3B8"/>
                </a:solidFill>
              </a:rPr>
              <a:t>servidor</a:t>
            </a:r>
            <a:r>
              <a:rPr sz="1100" b="0" i="0" dirty="0">
                <a:solidFill>
                  <a:srgbClr val="94A3B8"/>
                </a:solidFill>
              </a:rPr>
              <a:t> </a:t>
            </a:r>
            <a:r>
              <a:rPr sz="1100" b="0" i="0" dirty="0" err="1">
                <a:solidFill>
                  <a:srgbClr val="94A3B8"/>
                </a:solidFill>
              </a:rPr>
              <a:t>por</a:t>
            </a:r>
            <a:r>
              <a:rPr sz="1100" b="0" i="0" dirty="0">
                <a:solidFill>
                  <a:srgbClr val="94A3B8"/>
                </a:solidFill>
              </a:rPr>
              <a:t> </a:t>
            </a:r>
            <a:r>
              <a:rPr sz="1100" b="0" i="0" dirty="0" err="1">
                <a:solidFill>
                  <a:srgbClr val="94A3B8"/>
                </a:solidFill>
              </a:rPr>
              <a:t>servidor</a:t>
            </a:r>
            <a:r>
              <a:rPr sz="1100" b="0" i="0" dirty="0">
                <a:solidFill>
                  <a:srgbClr val="94A3B8"/>
                </a:solidFill>
              </a:rPr>
              <a:t> </a:t>
            </a:r>
            <a:r>
              <a:rPr lang="en-US" sz="1100" b="0" i="0" dirty="0">
                <a:solidFill>
                  <a:srgbClr val="94A3B8"/>
                </a:solidFill>
              </a:rPr>
              <a:t>via Access Manager</a:t>
            </a:r>
            <a:r>
              <a:rPr sz="1100" b="0" i="0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743200" cy="3840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 visibilidade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CPU </a:t>
            </a:r>
            <a:r>
              <a:rPr sz="1100" b="0" i="0" dirty="0" err="1">
                <a:solidFill>
                  <a:srgbClr val="94A3B8"/>
                </a:solidFill>
              </a:rPr>
              <a:t>alta</a:t>
            </a:r>
            <a:r>
              <a:rPr sz="1100" b="0" i="0" dirty="0">
                <a:solidFill>
                  <a:srgbClr val="94A3B8"/>
                </a:solidFill>
              </a:rPr>
              <a:t>? Disco </a:t>
            </a:r>
            <a:r>
              <a:rPr sz="1100" b="0" i="0" dirty="0" err="1">
                <a:solidFill>
                  <a:srgbClr val="94A3B8"/>
                </a:solidFill>
              </a:rPr>
              <a:t>cheio</a:t>
            </a:r>
            <a:r>
              <a:rPr sz="1100" b="0" i="0" dirty="0">
                <a:solidFill>
                  <a:srgbClr val="94A3B8"/>
                </a:solidFill>
              </a:rPr>
              <a:t>? So </a:t>
            </a:r>
            <a:r>
              <a:rPr sz="1100" b="0" i="0" dirty="0" err="1">
                <a:solidFill>
                  <a:srgbClr val="94A3B8"/>
                </a:solidFill>
              </a:rPr>
              <a:t>descobre</a:t>
            </a:r>
            <a:r>
              <a:rPr sz="1100" b="0" i="0" dirty="0">
                <a:solidFill>
                  <a:srgbClr val="94A3B8"/>
                </a:solidFill>
              </a:rPr>
              <a:t>
</a:t>
            </a:r>
            <a:r>
              <a:rPr sz="1100" b="0" i="0" dirty="0" err="1">
                <a:solidFill>
                  <a:srgbClr val="94A3B8"/>
                </a:solidFill>
              </a:rPr>
              <a:t>quando</a:t>
            </a:r>
            <a:r>
              <a:rPr sz="1100" b="0" i="0" dirty="0">
                <a:solidFill>
                  <a:srgbClr val="94A3B8"/>
                </a:solidFill>
              </a:rPr>
              <a:t> o </a:t>
            </a:r>
            <a:r>
              <a:rPr lang="en-US" sz="1100" dirty="0" err="1">
                <a:solidFill>
                  <a:srgbClr val="94A3B8"/>
                </a:solidFill>
              </a:rPr>
              <a:t>recebemos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alertas</a:t>
            </a:r>
            <a:r>
              <a:rPr lang="en-US" sz="1100" dirty="0">
                <a:solidFill>
                  <a:srgbClr val="94A3B8"/>
                </a:solidFill>
              </a:rPr>
              <a:t> do Zabbix/</a:t>
            </a:r>
            <a:r>
              <a:rPr lang="en-US" sz="1100" dirty="0" err="1">
                <a:solidFill>
                  <a:srgbClr val="94A3B8"/>
                </a:solidFill>
              </a:rPr>
              <a:t>Maxigent</a:t>
            </a:r>
            <a:r>
              <a:rPr sz="1100" b="0" i="0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737360"/>
            <a:ext cx="2743200" cy="3840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7373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 alertas proativos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514600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Sem </a:t>
            </a:r>
            <a:r>
              <a:rPr sz="1100" b="0" i="0" dirty="0" err="1">
                <a:solidFill>
                  <a:srgbClr val="94A3B8"/>
                </a:solidFill>
              </a:rPr>
              <a:t>monitoramento</a:t>
            </a:r>
            <a:r>
              <a:rPr sz="1100" b="0" i="0" dirty="0">
                <a:solidFill>
                  <a:srgbClr val="94A3B8"/>
                </a:solidFill>
              </a:rPr>
              <a:t>, voce </a:t>
            </a:r>
            <a:r>
              <a:rPr sz="1100" b="0" i="0" dirty="0" err="1">
                <a:solidFill>
                  <a:srgbClr val="94A3B8"/>
                </a:solidFill>
              </a:rPr>
              <a:t>reage</a:t>
            </a:r>
            <a:r>
              <a:rPr sz="1100" b="0" i="0" dirty="0">
                <a:solidFill>
                  <a:srgbClr val="94A3B8"/>
                </a:solidFill>
              </a:rPr>
              <a:t>
</a:t>
            </a:r>
            <a:r>
              <a:rPr sz="1100" b="0" i="0" dirty="0" err="1">
                <a:solidFill>
                  <a:srgbClr val="94A3B8"/>
                </a:solidFill>
              </a:rPr>
              <a:t>aos</a:t>
            </a:r>
            <a:r>
              <a:rPr sz="1100" b="0" i="0" dirty="0">
                <a:solidFill>
                  <a:srgbClr val="94A3B8"/>
                </a:solidFill>
              </a:rPr>
              <a:t> </a:t>
            </a:r>
            <a:r>
              <a:rPr sz="1100" b="0" i="0" dirty="0" err="1">
                <a:solidFill>
                  <a:srgbClr val="94A3B8"/>
                </a:solidFill>
              </a:rPr>
              <a:t>problemas</a:t>
            </a:r>
            <a:r>
              <a:rPr lang="en-US" sz="1100" dirty="0">
                <a:solidFill>
                  <a:srgbClr val="94A3B8"/>
                </a:solidFill>
              </a:rPr>
              <a:t>, </a:t>
            </a:r>
            <a:r>
              <a:rPr sz="1100" b="0" i="0" dirty="0">
                <a:solidFill>
                  <a:srgbClr val="94A3B8"/>
                </a:solidFill>
              </a:rPr>
              <a:t>nao </a:t>
            </a:r>
            <a:r>
              <a:rPr sz="1100" b="0" i="0" dirty="0" err="1">
                <a:solidFill>
                  <a:srgbClr val="94A3B8"/>
                </a:solidFill>
              </a:rPr>
              <a:t>os</a:t>
            </a:r>
            <a:r>
              <a:rPr sz="1100" b="0" i="0" dirty="0">
                <a:solidFill>
                  <a:srgbClr val="94A3B8"/>
                </a:solidFill>
              </a:rPr>
              <a:t> </a:t>
            </a:r>
            <a:r>
              <a:rPr sz="1100" b="0" i="0" dirty="0" err="1">
                <a:solidFill>
                  <a:srgbClr val="94A3B8"/>
                </a:solidFill>
              </a:rPr>
              <a:t>previne</a:t>
            </a:r>
            <a:r>
              <a:rPr sz="1100" b="0" i="0" dirty="0">
                <a:solidFill>
                  <a:srgbClr val="94A3B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 Solucao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Uma plataforma unica para logs, metricas e alertas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2E8F0"/>
                </a:solidFill>
              </a:rPr>
              <a:t>Stack open-source de mercado. Deploy </a:t>
            </a:r>
            <a:r>
              <a:rPr sz="1300" b="0" i="0" dirty="0" err="1">
                <a:solidFill>
                  <a:srgbClr val="E2E8F0"/>
                </a:solidFill>
              </a:rPr>
              <a:t>automatizado</a:t>
            </a:r>
            <a:r>
              <a:rPr sz="1300" b="0" i="0" dirty="0">
                <a:solidFill>
                  <a:srgbClr val="E2E8F0"/>
                </a:solidFill>
              </a:rPr>
              <a:t> via Ansible.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743200" cy="3566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Interface web unificada
Dashboards + alertas
Versao 13.0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94560"/>
            <a:ext cx="2743200" cy="3566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194560"/>
            <a:ext cx="274320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Banco de dados de logs
Indexacao por labels
Versao 3.6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2743200" cy="3566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889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Banco de dados de metricas
Series temporais
Versao 3.11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194560"/>
            <a:ext cx="2743200" cy="3566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19456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Alloy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889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Agente unificado
Coleta logs + metricas
Versao 1.9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Como os componentes se conectam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4900" y="1581912"/>
            <a:ext cx="3840480" cy="43891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21250" y="1589024"/>
            <a:ext cx="3840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64592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3B82F6"/>
                </a:solidFill>
              </a:rPr>
              <a:t>obs</a:t>
            </a:r>
            <a:r>
              <a:rPr sz="1200" b="1" i="0" dirty="0">
                <a:solidFill>
                  <a:srgbClr val="3B82F6"/>
                </a:solidFill>
              </a:rPr>
              <a:t>-server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148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Grafana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578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Loki :3100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0083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Prometheus :9090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3429000"/>
            <a:ext cx="356616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3520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retencao 30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40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 err="1">
                <a:solidFill>
                  <a:srgbClr val="94A3B8"/>
                </a:solidFill>
              </a:rPr>
              <a:t>prometheus</a:t>
            </a:r>
            <a:r>
              <a:rPr sz="900" b="0" i="1" dirty="0">
                <a:solidFill>
                  <a:srgbClr val="94A3B8"/>
                </a:solidFill>
              </a:rPr>
              <a:t> remote-write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737360"/>
            <a:ext cx="292608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173736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1847088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0B981"/>
                </a:solidFill>
              </a:rPr>
              <a:t>obs</a:t>
            </a:r>
            <a:r>
              <a:rPr sz="1100" b="1" i="0" dirty="0">
                <a:solidFill>
                  <a:srgbClr val="10B981"/>
                </a:solidFill>
              </a:rPr>
              <a:t>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Alloy :12345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06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logs + metricas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292608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75887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0B981"/>
                </a:solidFill>
              </a:rPr>
              <a:t>obs-agent2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14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Alloy :12345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logs + metricas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231136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4A3B8"/>
                </a:solidFill>
              </a:rPr>
              <a:t>push logs -&gt; :3100
push metrics -&gt; :9090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9776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4A3B8"/>
                </a:solidFill>
              </a:rPr>
              <a:t>push logs -&gt; :3100
push metrics -&gt; :9090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560320"/>
            <a:ext cx="2194560" cy="11887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265176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090672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94A3B8"/>
                </a:solidFill>
              </a:rPr>
              <a:t>Ip-</a:t>
            </a:r>
            <a:r>
              <a:rPr lang="en-US" sz="1000" b="0" i="0" dirty="0" err="1">
                <a:solidFill>
                  <a:srgbClr val="94A3B8"/>
                </a:solidFill>
              </a:rPr>
              <a:t>obs</a:t>
            </a:r>
            <a:r>
              <a:rPr lang="en-US" sz="1000" b="0" i="0" dirty="0">
                <a:solidFill>
                  <a:srgbClr val="94A3B8"/>
                </a:solidFill>
              </a:rPr>
              <a:t>-server</a:t>
            </a:r>
            <a:r>
              <a:rPr sz="1000" b="0" i="0" dirty="0">
                <a:solidFill>
                  <a:srgbClr val="94A3B8"/>
                </a:solidFill>
              </a:rPr>
              <a:t> 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query &lt;- 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Loki - Centralizacao de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94A3B8"/>
                </a:solidFill>
              </a:rPr>
              <a:t>Versao</a:t>
            </a:r>
            <a:r>
              <a:rPr sz="1600" b="0" i="0" dirty="0">
                <a:solidFill>
                  <a:srgbClr val="94A3B8"/>
                </a:solidFill>
              </a:rPr>
              <a:t> 3.6 | Modo </a:t>
            </a:r>
            <a:r>
              <a:rPr sz="1600" b="0" i="0" dirty="0" err="1">
                <a:solidFill>
                  <a:srgbClr val="94A3B8"/>
                </a:solidFill>
              </a:rPr>
              <a:t>monolitico</a:t>
            </a:r>
            <a:r>
              <a:rPr sz="1600" b="0" i="0" dirty="0">
                <a:solidFill>
                  <a:srgbClr val="94A3B8"/>
                </a:solidFill>
              </a:rPr>
              <a:t> | TSDB schema v13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O que e coletado automaticamente em cada servidor: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systemd journal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Todos os logs do SO:
SSH, sudo, cron, servicos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54864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/var/log/messages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Mensagens gerais
do sistema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54864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/var/log/secure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Acessos, autenticacoes,
logins SSH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4864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/var/log/cron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Execucoes agendadas
crontab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65760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59" y="365760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Labels coletados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job, host, level
Filtragem no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Exemplo LogQL: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760720"/>
            <a:ext cx="10515600" cy="77724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8704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</a:rPr>
              <a:t>{job="systemd-journal"} |= "Failed password"  -&gt;  todos os logins SSH recusados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Prometheus - Metricas de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Versao 3.11 | Remote-write receiver ativado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Metricas coletadas via Grafana Alloy (node_exporter integrado):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Uso por core e modo
(user, system, idle, iowait)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Total, disponivel,
buffers, cache, swap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Espaco usado/livre
por particao + IOPS + latencia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Bytes TX/RX, pacotes,
erros por interface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65760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59" y="365760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Sistema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Uptime, load average,
processos, file descriptors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TCP/IP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Conexoes estabelecidas,
time_wait, sockets em 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Exemplo PromQL: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10515600" cy="77724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100 - (avg by (host)(rate(node_cpu_seconds_total{mode='idle'}[5m]))*100)  -&gt;  % CPU por host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Grafana - Dashboards Deployados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3 dashboards prontos e em producao | Versao 13.0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Dashboards criados programaticamente via Python e provisionados automaticamente pelo Ansible: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43891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Linux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CPU | Memoria | Disco
Rede | Load | Uptime
File descriptors | TCP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029200"/>
            <a:ext cx="329184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uid: linux-overview-v1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532120"/>
            <a:ext cx="3291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66160" cy="43891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56616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947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Logs e Analise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Log rate por host
Erros + warnings (1h)
SSH logins | Eventos sudo
Falhas de servico systemd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5029200"/>
            <a:ext cx="329184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uid: logs-analysis-v1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5532120"/>
            <a:ext cx="3291840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Loki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3566160" cy="43891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35661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1947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Infrastructure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CPU % todos os hosts
RAM todos os hosts
Disco | I/O | Rede
Comparacao lado a lado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5029200"/>
            <a:ext cx="3291840" cy="274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uid: infra-compare-v1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5532120"/>
            <a:ext cx="32918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Prometheus + Loki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Dashboards - Paineis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O que voce ve em cada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920240" cy="1280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Linux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73736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3160" y="173736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6312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CPU breakdown por modo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0791" y="173736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50791" y="173736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23944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Load average 1/5/15m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8424" y="173736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78424" y="173736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51576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RAM com buffers/cache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73736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06056" y="173736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9208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Disco: espaco + IOPS + latencia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73736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33688" y="1737360"/>
            <a:ext cx="1508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Rede: RX/TX + erros + TCP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1920240" cy="1280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1920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26440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</a:rPr>
              <a:t>Logs e Analise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24612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23160" y="3246120"/>
            <a:ext cx="15087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6312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Total de linhas (1h)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0791" y="324612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50791" y="3246120"/>
            <a:ext cx="15087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23944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Contagem de erros (1h)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78424" y="324612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78424" y="3246120"/>
            <a:ext cx="15087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51576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Taxa de logs por host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06056" y="324612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06056" y="3246120"/>
            <a:ext cx="15087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9208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SSH: logins ok vs falhas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33688" y="3246120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33688" y="3246120"/>
            <a:ext cx="15087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06840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Tail de erros em tempo real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63440"/>
            <a:ext cx="1920240" cy="128016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663440"/>
            <a:ext cx="19202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4773168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Infra Comparison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4754879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423160" y="4754879"/>
            <a:ext cx="1508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96312" y="4846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CPU % todos os hosts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0791" y="4754879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050791" y="4754879"/>
            <a:ext cx="1508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23944" y="4846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RAM % todos os hosts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78424" y="4754879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78424" y="4754879"/>
            <a:ext cx="1508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51576" y="4846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Disco / por host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06056" y="4754879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06056" y="4754879"/>
            <a:ext cx="1508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79208" y="4846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I/O total por host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33688" y="4754879"/>
            <a:ext cx="150876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933688" y="4754879"/>
            <a:ext cx="1508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06840" y="4846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Taxa de erros (Loki)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263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Todos os dashboards provisionados em /var/lib/grafana/dashboards/ - carregados automaticamente pelo Grafana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Alertas Proativos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Grafana Unified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Regras de alerta que disparam automaticamente quando algo foge do normal: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20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CPU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0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CPU &gt; 80% por 5 minutos continuamente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65960"/>
            <a:ext cx="7132320" cy="658368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1305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9798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4A3B8"/>
                </a:solidFill>
              </a:rPr>
              <a:t>-&gt;  Email  |  </a:t>
            </a:r>
            <a:r>
              <a:rPr lang="en-US" sz="1000" b="0" i="0" dirty="0">
                <a:solidFill>
                  <a:srgbClr val="94A3B8"/>
                </a:solidFill>
              </a:rPr>
              <a:t>Knox Messenger</a:t>
            </a:r>
            <a:r>
              <a:rPr sz="1000" b="0" i="0" dirty="0">
                <a:solidFill>
                  <a:srgbClr val="94A3B8"/>
                </a:solidFill>
              </a:rPr>
              <a:t> |  Webhook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72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Memoria disponivel &lt; 10% por 2 minutos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88920"/>
            <a:ext cx="7132320" cy="658368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95351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53512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A3B8"/>
                </a:solidFill>
              </a:rPr>
              <a:t>-&gt;  Email  |  Knox Messenger |  Webhook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666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Disco Cheio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959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Disco / &gt; 85% por 10 minutos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611880"/>
            <a:ext cx="7132320" cy="658368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7764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A3B8"/>
                </a:solidFill>
              </a:rPr>
              <a:t>-&gt;  Email  |  Knox Messenger |  Webhook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34840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897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Host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18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Agente parou de enviar dados por 5 minutos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434840"/>
            <a:ext cx="7132320" cy="658368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45994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99431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A3B8"/>
                </a:solidFill>
              </a:rPr>
              <a:t>-&gt;  Email  |  Knox Messenger |  Webhook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257800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3126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Muitos Erros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41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Mais de 50 erros nos logs em 5 minutos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5257800"/>
            <a:ext cx="7132320" cy="658368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54223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22392"/>
            <a:ext cx="5303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A3B8"/>
                </a:solidFill>
              </a:rPr>
              <a:t>-&gt;  Email  |  Knox Messenger |  Webhook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94A3B8"/>
                </a:solidFill>
              </a:rPr>
              <a:t>Os</a:t>
            </a:r>
            <a:r>
              <a:rPr sz="1100" b="0" i="1" dirty="0">
                <a:solidFill>
                  <a:srgbClr val="94A3B8"/>
                </a:solidFill>
              </a:rPr>
              <a:t> </a:t>
            </a:r>
            <a:r>
              <a:rPr sz="1100" b="0" i="1" dirty="0" err="1">
                <a:solidFill>
                  <a:srgbClr val="94A3B8"/>
                </a:solidFill>
              </a:rPr>
              <a:t>alertas</a:t>
            </a:r>
            <a:r>
              <a:rPr sz="1100" b="0" i="1" dirty="0">
                <a:solidFill>
                  <a:srgbClr val="94A3B8"/>
                </a:solidFill>
              </a:rPr>
              <a:t> </a:t>
            </a:r>
            <a:r>
              <a:rPr sz="1100" b="0" i="1" dirty="0" err="1">
                <a:solidFill>
                  <a:srgbClr val="94A3B8"/>
                </a:solidFill>
              </a:rPr>
              <a:t>chegam</a:t>
            </a:r>
            <a:r>
              <a:rPr sz="1100" b="0" i="1" dirty="0">
                <a:solidFill>
                  <a:srgbClr val="94A3B8"/>
                </a:solidFill>
              </a:rPr>
              <a:t> no canal </a:t>
            </a:r>
            <a:r>
              <a:rPr sz="1100" b="0" i="1" dirty="0" err="1">
                <a:solidFill>
                  <a:srgbClr val="94A3B8"/>
                </a:solidFill>
              </a:rPr>
              <a:t>que</a:t>
            </a:r>
            <a:r>
              <a:rPr sz="1100" b="0" i="1" dirty="0">
                <a:solidFill>
                  <a:srgbClr val="94A3B8"/>
                </a:solidFill>
              </a:rPr>
              <a:t> voce </a:t>
            </a:r>
            <a:r>
              <a:rPr sz="1100" b="0" i="1" dirty="0" err="1">
                <a:solidFill>
                  <a:srgbClr val="94A3B8"/>
                </a:solidFill>
              </a:rPr>
              <a:t>definir</a:t>
            </a:r>
            <a:r>
              <a:rPr sz="1100" b="0" i="1" dirty="0">
                <a:solidFill>
                  <a:srgbClr val="94A3B8"/>
                </a:solidFill>
              </a:rPr>
              <a:t>: </a:t>
            </a:r>
            <a:r>
              <a:rPr lang="en-US" sz="1100" b="0" i="1" dirty="0">
                <a:solidFill>
                  <a:srgbClr val="94A3B8"/>
                </a:solidFill>
              </a:rPr>
              <a:t>Knox Messenger</a:t>
            </a:r>
            <a:r>
              <a:rPr sz="1100" b="0" i="1" dirty="0">
                <a:solidFill>
                  <a:srgbClr val="94A3B8"/>
                </a:solidFill>
              </a:rPr>
              <a:t>, e-mail, </a:t>
            </a:r>
            <a:r>
              <a:rPr sz="1100" b="0" i="1" dirty="0" err="1">
                <a:solidFill>
                  <a:srgbClr val="94A3B8"/>
                </a:solidFill>
              </a:rPr>
              <a:t>ou</a:t>
            </a:r>
            <a:r>
              <a:rPr sz="1100" b="0" i="1" dirty="0">
                <a:solidFill>
                  <a:srgbClr val="94A3B8"/>
                </a:solidFill>
              </a:rPr>
              <a:t> </a:t>
            </a:r>
            <a:r>
              <a:rPr sz="1100" b="0" i="1" dirty="0" err="1">
                <a:solidFill>
                  <a:srgbClr val="94A3B8"/>
                </a:solidFill>
              </a:rPr>
              <a:t>qualquer</a:t>
            </a:r>
            <a:r>
              <a:rPr sz="1100" b="0" i="1" dirty="0">
                <a:solidFill>
                  <a:srgbClr val="94A3B8"/>
                </a:solidFill>
              </a:rPr>
              <a:t> webhook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Implementacao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Ansible Air-Gapped | Sem internet nos servidores 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Toda a instalacao e automatizada via Ansible. Os binarios ficam no controller - nenhum host precisa de acesso externo.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56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Baixar artefatos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Na maquina com internet: Loki, Grafana RPM, Prometheus, Alloy RPM (~520 MB total).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06624"/>
            <a:ext cx="50292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Transferir ao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72384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Copiar pacote para o servidor Ansible via SCP. Sem internet necessaria apos isso.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93008"/>
            <a:ext cx="50292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29584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9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Configurar inventario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587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Editar hosts.yml com IPs + grupo observability_server (servidor) e linux_agents.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79392"/>
            <a:ext cx="502920" cy="6583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8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15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 do 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4515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ansible-playbook site.yml --tags server  -&gt;  instala Loki + Grafana + Prometheus.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65776"/>
            <a:ext cx="502920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02352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02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 dos agentes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3153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ansible-playbook 20_linux_agents.yml  -&gt;  instala Alloy em todos os linux_agents.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50292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88736"/>
            <a:ext cx="502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8887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Novos servidores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62179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Para adicionar agente futuro: so adicionar ao inventario e rodar -l novo-host.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Licoes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Problemas encontrados na instalacao manual air-gapped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Validado com instalacao manual completa em AlmaLinux 9.8. Todos documentados no playbook.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577840" cy="19202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SELinux: user_tmp_t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Binarios copiados via SCP herdam contexto user_tmp_t.
Systemd recusa executar -&gt; status=203/EXEC.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90672"/>
            <a:ext cx="5303520" cy="5943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1363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sudo restorecon -v /usr/local/bin/loki
sudo restorecon -v /usr/local/bin/prometheus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577840" cy="19202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5778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Loki 3.6: Consul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Modo monolitico tenta usar Consul por padrao.
Sem Consul: failed to start store (localhost:8500).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090672"/>
            <a:ext cx="5303520" cy="5943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1363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common:
  ring:
    kvstore:
      store: inmemory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77840" cy="19202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Permissao logs: chown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chmod 640 sozinho nao basta se grupo for root.
Grupo precisa ser adm para alloy ter acesso.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193792"/>
            <a:ext cx="5303520" cy="5943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395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sudo chown root:adm /var/log/messages
sudo chown root:adm /var/log/secure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23360"/>
            <a:ext cx="5577840" cy="19202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5577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1330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sudo PATH restrito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72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/usr/local/bin fora do PATH seguro do sudo.
promtool nao encontrado com sudo.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5193792"/>
            <a:ext cx="5303520" cy="5943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52395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0B981"/>
                </a:solidFill>
              </a:rPr>
              <a:t>sudo /usr/local/bin/promtool check config
/etc/prometheus/prometheus.yml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Beneficios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Resposta mais rapida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Identifique a causa raiz de incidentes
em minutos, nao em horas.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Alertas proativos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Seja notificado antes que
o usuario perceba o problema.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Seguranca e auditoria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Todos os logins, comandos sudo
e acessos SSH ficam registrados.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1752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301752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Visibilidade completa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CPU, memoria, disco, rede
de todos os servidores em um painel.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Open-source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Grafana, Loki e Prometheus sao
open-source. Sem custo de licenca.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66344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466344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automatizado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Novo servidor monitorado
em menos de 5 minutos via Ansible.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1 - Infraestrutura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Stack deployada: Loki + Grafana + Prometheus no servidor central.
Agentes Alloy em obs-agent1 e obs-agent2. Dashboards provisionados.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901952"/>
            <a:ext cx="1920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89720" y="19202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CONCLUIDO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2 - Expandir agentes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5584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Adicionar Alloy nos servidores de aplicacao, banco de dados e DMZ.
Cada novo host: 1 linha no inventario + 1 comando Ansible.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136391"/>
            <a:ext cx="19202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3154679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Proximo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3 - Alertas e notificacoes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Configurar regras de alerta para CPU, disco, host down e erros.
Integrar com Slack ou Teams para notificacao em tempo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370832"/>
            <a:ext cx="1920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3891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~2 dias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Fase 4 - Logs de aplicacoes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2472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Adicionar paths de log das aplicacoes no config do Alloy.
Parsing de logs JSON para facilitar busca e correlacao.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5605272"/>
            <a:ext cx="192024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56235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Por demanda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u="sng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291840"/>
            <a:ext cx="117317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20440"/>
            <a:ext cx="2011680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5387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Loki 3.6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520440"/>
            <a:ext cx="201168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35387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Grafana 13.0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520440"/>
            <a:ext cx="20116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0" y="35387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Prometheus 3.11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520440"/>
            <a:ext cx="201168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53872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Alloy 1.9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Grafana: http://192.168.137.200:3000  |  admin / Obs@2026!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1447</Words>
  <Application>Microsoft Office PowerPoint</Application>
  <PresentationFormat>Personalizar</PresentationFormat>
  <Paragraphs>208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Kehr</cp:lastModifiedBy>
  <cp:revision>2</cp:revision>
  <dcterms:created xsi:type="dcterms:W3CDTF">2013-01-27T09:14:16Z</dcterms:created>
  <dcterms:modified xsi:type="dcterms:W3CDTF">2026-06-12T00:49:10Z</dcterms:modified>
  <cp:category/>
</cp:coreProperties>
</file>